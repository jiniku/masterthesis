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109728"/>
          </a:xfrm>
          <a:prstGeom prst="rect">
            <a:avLst/>
          </a:prstGeom>
          <a:solidFill>
            <a:srgbClr val="318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Calibri"/>
              </a:rPr>
              <a:t>quizgen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71800"/>
            <a:ext cx="106984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 i="0">
                <a:solidFill>
                  <a:srgbClr val="DEEBF7"/>
                </a:solidFill>
                <a:latin typeface="Calibri"/>
              </a:rPr>
              <a:t>Automated Test Assembly from a question bank</a:t>
            </a:r>
          </a:p>
          <a:p>
            <a:pPr algn="l"/>
            <a:r>
              <a:rPr sz="2600" b="0" i="0">
                <a:solidFill>
                  <a:srgbClr val="DEEBF7"/>
                </a:solidFill>
                <a:latin typeface="Calibri"/>
              </a:rPr>
              <a:t>Select blueprint-compliant exams — no generation, no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Question bank (JSON)   •   Blueprint (YAML + flags)   •   Greedy / MIP selection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Master's Thesis — KWARC Group, FAU Erlangen-Nürnberg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Selection as exact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EEBF7"/>
                </a:solidFill>
                <a:latin typeface="Calibri"/>
              </a:rPr>
              <a:t>WHAT THE TOOL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636363"/>
                </a:solidFill>
                <a:latin typeface="Calibri"/>
              </a:rPr>
              <a:t>You bring a bank of tagged questions. quizgen picks the exam that matches the professor's blueprint — exactly.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4846320" cy="914400"/>
          </a:xfrm>
          <a:prstGeom prst="roundRect">
            <a:avLst/>
          </a:prstGeom>
          <a:solidFill>
            <a:srgbClr val="E5F5E0"/>
          </a:solidFill>
          <a:ln w="15875">
            <a:solidFill>
              <a:srgbClr val="31A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 i="0">
                <a:solidFill>
                  <a:srgbClr val="333333"/>
                </a:solidFill>
                <a:latin typeface="Calibri"/>
              </a:rPr>
              <a:t>INPUT  ·  question bank (JSON) with metadata + a blueprint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148840"/>
            <a:ext cx="4846320" cy="91440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1" i="0">
                <a:solidFill>
                  <a:srgbClr val="333333"/>
                </a:solidFill>
                <a:latin typeface="Calibri"/>
              </a:rPr>
              <a:t>OUTPUT  ·  one or more disjoint, blueprint-compliant exam versions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0" y="2606040"/>
            <a:ext cx="1188720" cy="0"/>
          </a:xfrm>
          <a:prstGeom prst="line">
            <a:avLst/>
          </a:prstGeom>
          <a:ln w="31750">
            <a:solidFill>
              <a:srgbClr val="6363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429000"/>
            <a:ext cx="109728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Hitting counts exactly (per chapter, per difficulty, N versions) is a combinatorial optimisation problem — not a prompting problem.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Solved with a 0–1 Mixed-Integer Program: exact, auditable, optimal under a quality objective.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Parallel versions are produced in one solve and provably share no questions.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Every exam embeds the resolved blueprint → self-describing &amp; reproducible.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No LLM, no PDF ingestion, no network — runs fully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Architecture: the pipeline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EEBF7"/>
                </a:solidFill>
                <a:latin typeface="Calibri"/>
              </a:rPr>
              <a:t>POOL → SELECT → VERIFY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651760"/>
            <a:ext cx="2011680" cy="1097280"/>
          </a:xfrm>
          <a:prstGeom prst="rect">
            <a:avLst/>
          </a:prstGeom>
          <a:solidFill>
            <a:srgbClr val="E5F5E0"/>
          </a:solidFill>
          <a:ln w="15875">
            <a:solidFill>
              <a:srgbClr val="31A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question bank</a:t>
            </a:r>
          </a:p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(JSON)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51760" y="3200400"/>
            <a:ext cx="548640" cy="0"/>
          </a:xfrm>
          <a:prstGeom prst="line">
            <a:avLst/>
          </a:prstGeom>
          <a:ln w="22860">
            <a:solidFill>
              <a:srgbClr val="6363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200400" y="2651760"/>
            <a:ext cx="2011680" cy="109728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Deduplicate</a:t>
            </a:r>
          </a:p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(optional)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12080" y="3200400"/>
            <a:ext cx="731520" cy="0"/>
          </a:xfrm>
          <a:prstGeom prst="line">
            <a:avLst/>
          </a:prstGeom>
          <a:ln w="22860">
            <a:solidFill>
              <a:srgbClr val="6363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0" y="2651760"/>
            <a:ext cx="2011680" cy="109728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Assemble</a:t>
            </a:r>
          </a:p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(greedy / MIP)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955280" y="3200400"/>
            <a:ext cx="731520" cy="0"/>
          </a:xfrm>
          <a:prstGeom prst="line">
            <a:avLst/>
          </a:prstGeom>
          <a:ln w="22860">
            <a:solidFill>
              <a:srgbClr val="6363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686800" y="2651760"/>
            <a:ext cx="2011680" cy="109728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Validate</a:t>
            </a:r>
          </a:p>
          <a:p>
            <a:pPr algn="ctr"/>
            <a:r>
              <a:rPr sz="1400" b="1" i="0">
                <a:solidFill>
                  <a:srgbClr val="333333"/>
                </a:solidFill>
                <a:latin typeface="Calibri"/>
              </a:rPr>
              <a:t>(optional)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81360" y="2651760"/>
            <a:ext cx="1097280" cy="1097280"/>
          </a:xfrm>
          <a:prstGeom prst="rect">
            <a:avLst/>
          </a:prstGeom>
          <a:solidFill>
            <a:srgbClr val="E5F5E0"/>
          </a:solidFill>
          <a:ln w="15875">
            <a:solidFill>
              <a:srgbClr val="31A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exam</a:t>
            </a:r>
          </a:p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versions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98480" y="3200400"/>
            <a:ext cx="182880" cy="0"/>
          </a:xfrm>
          <a:prstGeom prst="line">
            <a:avLst/>
          </a:prstGeom>
          <a:ln w="20320">
            <a:solidFill>
              <a:srgbClr val="31A35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943600" y="1371600"/>
            <a:ext cx="2011680" cy="640080"/>
          </a:xfrm>
          <a:prstGeom prst="rect">
            <a:avLst/>
          </a:prstGeom>
          <a:solidFill>
            <a:srgbClr val="FDE0DD"/>
          </a:solidFill>
          <a:ln w="15875">
            <a:solidFill>
              <a:srgbClr val="DE2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blueprint</a:t>
            </a:r>
          </a:p>
          <a:p>
            <a:pPr algn="ctr"/>
            <a:r>
              <a:rPr sz="1200" b="1" i="0">
                <a:solidFill>
                  <a:srgbClr val="333333"/>
                </a:solidFill>
                <a:latin typeface="Calibri"/>
              </a:rPr>
              <a:t>(YAML + flags)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949440" y="2011680"/>
            <a:ext cx="0" cy="640080"/>
          </a:xfrm>
          <a:prstGeom prst="line">
            <a:avLst/>
          </a:prstGeom>
          <a:ln w="20320">
            <a:solidFill>
              <a:srgbClr val="DE2D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572000"/>
            <a:ext cx="1828800" cy="384048"/>
          </a:xfrm>
          <a:prstGeom prst="roundRect">
            <a:avLst/>
          </a:prstGeom>
          <a:solidFill>
            <a:srgbClr val="E5F5E0"/>
          </a:solidFill>
          <a:ln w="15875">
            <a:solidFill>
              <a:srgbClr val="31A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60" y="4572000"/>
            <a:ext cx="2011680" cy="384048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4572000"/>
            <a:ext cx="2377440" cy="384048"/>
          </a:xfrm>
          <a:prstGeom prst="roundRect">
            <a:avLst/>
          </a:prstGeom>
          <a:solidFill>
            <a:srgbClr val="FDE0DD"/>
          </a:solidFill>
          <a:ln w="15875">
            <a:solidFill>
              <a:srgbClr val="DE2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1" i="0">
                <a:solidFill>
                  <a:srgbClr val="333333"/>
                </a:solidFill>
                <a:latin typeface="Calibri"/>
              </a:rPr>
              <a:t>professor input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1208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36363"/>
                </a:solidFill>
                <a:latin typeface="Calibri"/>
              </a:rPr>
              <a:t>Dedup and validation are opt-in (--dedup / --validate). The blueprint drives assembly; each stage is one module in the quizgen package.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input: a tagged question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EEBF7"/>
                </a:solidFill>
                <a:latin typeface="Calibri"/>
              </a:rPr>
              <a:t>schema.py — Pydantic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A JSON Quiz object (or a bare list) of Question items.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Pydantic v2 models are the single source of truth; JSON Schema is exported, not hand-written.</a:t>
            </a:r>
          </a:p>
          <a:p>
            <a:pPr>
              <a:spcAft>
                <a:spcPts val="7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• Metadata is exactly what selection reasons over: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36363"/>
                </a:solidFill>
                <a:latin typeface="Calibri"/>
              </a:rPr>
              <a:t>– chapter → per-chapter quotas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36363"/>
                </a:solidFill>
                <a:latin typeface="Calibri"/>
              </a:rPr>
              <a:t>– difficulty → easy/medium/hard mix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36363"/>
                </a:solidFill>
                <a:latin typeface="Calibri"/>
              </a:rPr>
              <a:t>– qtype → allowed-type filter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36363"/>
                </a:solidFill>
                <a:latin typeface="Calibri"/>
              </a:rPr>
              <a:t>– bloom_level → quality objective</a:t>
            </a:r>
          </a:p>
          <a:p>
            <a:pPr lvl="1">
              <a:spcAft>
                <a:spcPts val="700"/>
              </a:spcAft>
            </a:pPr>
            <a:r>
              <a:rPr sz="1500">
                <a:solidFill>
                  <a:srgbClr val="636363"/>
                </a:solidFill>
                <a:latin typeface="Calibri"/>
              </a:rPr>
              <a:t>– stem/answer/options → duplicate detection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25880"/>
            <a:ext cx="5486400" cy="4023360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{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"chapter": 1,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"section": "1.2",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"qtype": "mcq",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"bloom_level": "understand",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"difficulty": "medium",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"stem": "Explain how A* uses ...",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"options": ["A) ...", "B) ...",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            "C) ...", "D) ..."],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"answer": "A",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"explanation": "A* is optimal ...",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  "source_ref": "ch1_sec2_q1"</a:t>
            </a:r>
          </a:p>
          <a:p>
            <a:pPr algn="l"/>
            <a:r>
              <a:rPr sz="1400" b="0" i="0">
                <a:solidFill>
                  <a:srgbClr val="333333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 blueprint: a table of specifications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EEBF7"/>
                </a:solidFill>
                <a:latin typeface="Calibri"/>
              </a:rPr>
              <a:t>blueprint.py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394960" cy="2377440"/>
          </a:xfrm>
          <a:prstGeom prst="rect">
            <a:avLst/>
          </a:prstGeom>
          <a:solidFill>
            <a:srgbClr val="FDE0DD"/>
          </a:solidFill>
          <a:ln w="15875">
            <a:solidFill>
              <a:srgbClr val="DE2D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0" i="0">
                <a:solidFill>
                  <a:srgbClr val="333333"/>
                </a:solidFill>
                <a:latin typeface="Consolas"/>
              </a:rPr>
              <a:t>total_questions: 20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Consolas"/>
              </a:rPr>
              <a:t>chapters: {1: 50%, 2: 30%, 3: 20%}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Consolas"/>
              </a:rPr>
              <a:t>difficulty_mix: {easy:.4, medium:.4, hard:.2}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Consolas"/>
              </a:rPr>
              <a:t>allowed_qtypes: [mcq, short_answer, ...]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Consolas"/>
              </a:rPr>
              <a:t>versions: 2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Consolas"/>
              </a:rPr>
              <a:t>selector: mip</a:t>
            </a:r>
          </a:p>
          <a:p>
            <a:pPr algn="ctr"/>
            <a:r>
              <a:rPr sz="1400" b="0" i="0">
                <a:solidFill>
                  <a:srgbClr val="333333"/>
                </a:solidFill>
                <a:latin typeface="Consolas"/>
              </a:rPr>
              <a:t>dedup_similarity: 0.85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5394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Counts may be ints, fractions, or "NN%".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resolve() → exact integer counts that sum to the total (largest-remainder).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182BD"/>
                </a:solidFill>
                <a:latin typeface="Calibri"/>
              </a:rPr>
              <a:t>YAML and/or CLI flags — flags 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Keep a base blueprint.yaml, override per run.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build_blueprint loads YAML → overwrites field-by-field with provided flags → validates.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657600"/>
            <a:ext cx="5303520" cy="1463040"/>
          </a:xfrm>
          <a:prstGeom prst="rect">
            <a:avLst/>
          </a:prstGeom>
          <a:solidFill>
            <a:srgbClr val="1F2D3D"/>
          </a:solidFill>
          <a:ln w="15875">
            <a:solidFill>
              <a:srgbClr val="1F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0" i="0">
                <a:solidFill>
                  <a:srgbClr val="FFFFFF"/>
                </a:solidFill>
                <a:latin typeface="Consolas"/>
              </a:rPr>
              <a:t>python -m quizgen --pool questions.json \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onsolas"/>
              </a:rPr>
              <a:t>  --blueprint blueprint.yaml \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onsolas"/>
              </a:rPr>
              <a:t>  --versions 3 --selector greedy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Automated Test Assembly: greedy vs. MIP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EEBF7"/>
                </a:solidFill>
                <a:latin typeface="Calibri"/>
              </a:rPr>
              <a:t>assemble.py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212080" cy="502920"/>
          </a:xfrm>
          <a:prstGeom prst="roundRect">
            <a:avLst/>
          </a:prstGeom>
          <a:solidFill>
            <a:srgbClr val="3182BD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GreedySelector — fast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Per-chapter fill, two passes (difficulty quota, then remainder).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Skips duplicates &amp; already-used items.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Fast; no optimality guarantee.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5212080" cy="502920"/>
          </a:xfrm>
          <a:prstGeom prst="roundRect">
            <a:avLst/>
          </a:prstGeom>
          <a:solidFill>
            <a:srgbClr val="3182BD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MIPSelector — exact optimisation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0–1 program via PuLP / CBC.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Exact per-chapter AND difficulty counts.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Disjoint versions; forbids dup pairs.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Infeasible → relax difficulty (logged), never chapter counts.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86400" cy="2743200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0" i="0">
                <a:solidFill>
                  <a:srgbClr val="333333"/>
                </a:solidFill>
                <a:latin typeface="Consolas"/>
              </a:rPr>
              <a:t>max  Σ q_i · x_iv          (quality)</a:t>
            </a:r>
          </a:p>
          <a:p>
            <a:pPr algn="ctr"/>
            <a:r>
              <a:rPr sz="1500" b="0" i="0">
                <a:solidFill>
                  <a:srgbClr val="333333"/>
                </a:solidFill>
                <a:latin typeface="Consolas"/>
              </a:rPr>
              <a:t>Σ_{chap(i)=c} x_iv = n_c    (per chapter)</a:t>
            </a:r>
          </a:p>
          <a:p>
            <a:pPr algn="ctr"/>
            <a:r>
              <a:rPr sz="1500" b="0" i="0">
                <a:solidFill>
                  <a:srgbClr val="333333"/>
                </a:solidFill>
                <a:latin typeface="Consolas"/>
              </a:rPr>
              <a:t>Σ_{diff(i)=d} x_iv = m_d    (difficulty)</a:t>
            </a:r>
          </a:p>
          <a:p>
            <a:pPr algn="ctr"/>
            <a:r>
              <a:rPr sz="1500" b="0" i="0">
                <a:solidFill>
                  <a:srgbClr val="333333"/>
                </a:solidFill>
                <a:latin typeface="Consolas"/>
              </a:rPr>
              <a:t>Σ_v  x_iv ≤ 1              (disjoint)</a:t>
            </a:r>
          </a:p>
          <a:p>
            <a:pPr algn="ctr"/>
            <a:r>
              <a:rPr sz="1500" b="0" i="0">
                <a:solidFill>
                  <a:srgbClr val="333333"/>
                </a:solidFill>
                <a:latin typeface="Consolas"/>
              </a:rPr>
              <a:t>Σ_v x_iv + Σ_v x_jv ≤ 1    (no dup pair)</a:t>
            </a:r>
          </a:p>
          <a:p>
            <a:pPr algn="ctr"/>
            <a:r>
              <a:rPr sz="1500" b="0" i="0">
                <a:solidFill>
                  <a:srgbClr val="333333"/>
                </a:solidFill>
                <a:latin typeface="Consolas"/>
              </a:rPr>
              <a:t>x_iv ∈ {0, 1}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80560"/>
            <a:ext cx="5486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1">
                <a:solidFill>
                  <a:srgbClr val="636363"/>
                </a:solidFill>
                <a:latin typeface="Calibri"/>
              </a:rPr>
              <a:t>One solve produces all parallel versions at once — provably disjoint and each individually blueprint-compliant.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Deduplication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EEBF7"/>
                </a:solidFill>
                <a:latin typeface="Calibri"/>
              </a:rPr>
              <a:t>similarity.py • dedup.py • validate.py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182BD"/>
                </a:solidFill>
                <a:latin typeface="Calibri"/>
              </a:rPr>
              <a:t>DEDUP (--dedup)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Token-Jaccard over stem+answer(+options) — offline, always on.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Optional embedding cosine — catches paraphrases.</a:t>
            </a:r>
          </a:p>
          <a:p>
            <a:pPr>
              <a:spcAft>
                <a:spcPts val="700"/>
              </a:spcAft>
            </a:pPr>
            <a:r>
              <a:rPr sz="1500">
                <a:solidFill>
                  <a:srgbClr val="333333"/>
                </a:solidFill>
                <a:latin typeface="Calibri"/>
              </a:rPr>
              <a:t>• Drops dups from the pool; MIP also forbids dup pairs across versions.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023360"/>
            <a:ext cx="5212080" cy="1005840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0" i="0">
                <a:solidFill>
                  <a:srgbClr val="333333"/>
                </a:solidFill>
                <a:latin typeface="Consolas"/>
              </a:rPr>
              <a:t>sim(q₁,q₂) = |T(q₁) ∩ T(q₂)| / |T(q₁) ∪ T(q₂)|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31A354"/>
                </a:solidFill>
                <a:latin typeface="Calibri"/>
              </a:rPr>
              <a:t>VALIDATE (--validate)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91640"/>
            <a:ext cx="2560320" cy="777240"/>
          </a:xfrm>
          <a:prstGeom prst="roundRect">
            <a:avLst/>
          </a:prstGeom>
          <a:solidFill>
            <a:srgbClr val="E5F5E0"/>
          </a:solidFill>
          <a:ln w="15875">
            <a:solidFill>
              <a:srgbClr val="31A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Schema validity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691640"/>
            <a:ext cx="2560320" cy="77724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Blueprint compliance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606040"/>
            <a:ext cx="2560320" cy="777240"/>
          </a:xfrm>
          <a:prstGeom prst="roundRect">
            <a:avLst/>
          </a:prstGeom>
          <a:solidFill>
            <a:srgbClr val="E5F5E0"/>
          </a:solidFill>
          <a:ln w="15875">
            <a:solidFill>
              <a:srgbClr val="31A3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Grounding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2606040"/>
            <a:ext cx="2560320" cy="777240"/>
          </a:xfrm>
          <a:prstGeom prst="roundRect">
            <a:avLst/>
          </a:prstGeom>
          <a:solidFill>
            <a:srgbClr val="DEEBF7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 i="0">
                <a:solidFill>
                  <a:srgbClr val="333333"/>
                </a:solidFill>
                <a:latin typeface="Calibri"/>
              </a:rPr>
              <a:t>Duplicate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657600"/>
            <a:ext cx="5303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636363"/>
                </a:solidFill>
                <a:latin typeface="Calibri"/>
              </a:rPr>
              <a:t>Overall PASS only if no schema-invalid items and (if checked) the blueprint matches exactly. Exit code feeds 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Using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EEBF7"/>
                </a:solidFill>
                <a:latin typeface="Calibri"/>
              </a:rPr>
              <a:t>python -m quizgen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Pure command line (no YAML):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10972800" cy="1143000"/>
          </a:xfrm>
          <a:prstGeom prst="rect">
            <a:avLst/>
          </a:prstGeom>
          <a:solidFill>
            <a:srgbClr val="1F2D3D"/>
          </a:solidFill>
          <a:ln w="15875">
            <a:solidFill>
              <a:srgbClr val="1F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python -m quizgen --pool questions.json \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    --total 20 --chapters 1:10,2:6,3:4 \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    --difficulty 0.4,0.4,0.2 --versions 2 --selector mip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333333"/>
                </a:solidFill>
                <a:latin typeface="Calibri"/>
              </a:rPr>
              <a:t>Blueprint file + dedup + per-version validation report: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429000"/>
            <a:ext cx="10972800" cy="914400"/>
          </a:xfrm>
          <a:prstGeom prst="rect">
            <a:avLst/>
          </a:prstGeom>
          <a:solidFill>
            <a:srgbClr val="1F2D3D"/>
          </a:solidFill>
          <a:ln w="15875">
            <a:solidFill>
              <a:srgbClr val="1F2D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python -m quizgen --pool questions.json --blueprint blueprint.yaml \</a:t>
            </a:r>
          </a:p>
          <a:p>
            <a:pPr algn="ctr"/>
            <a:r>
              <a:rPr sz="1500" b="0" i="0">
                <a:solidFill>
                  <a:srgbClr val="FFFFFF"/>
                </a:solidFill>
                <a:latin typeface="Consolas"/>
              </a:rPr>
              <a:t>    --dedup --validate --out-dir 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Writes one Quiz JSON per version (each embeds the resolved blueprint).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Standalone entry points too: python -m quizgen.assemble, python -m quizgen.validate.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  <a:latin typeface="Calibri"/>
              </a:rPr>
              <a:t>• Exits non-zero on any non-compliant version → composes in scripts &amp; 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11556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each technique comes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828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EEBF7"/>
                </a:solidFill>
                <a:latin typeface="Calibri"/>
              </a:rPr>
              <a:t>TECHNIQUE → SOURCE LINEAGE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4937760" cy="530352"/>
          </a:xfrm>
          <a:prstGeom prst="roundRect">
            <a:avLst/>
          </a:prstGeom>
          <a:solidFill>
            <a:srgbClr val="3182BD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Implemented in 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0" y="1371600"/>
            <a:ext cx="5943600" cy="530352"/>
          </a:xfrm>
          <a:prstGeom prst="roundRect">
            <a:avLst/>
          </a:prstGeom>
          <a:solidFill>
            <a:srgbClr val="3182BD"/>
          </a:solidFill>
          <a:ln w="15875">
            <a:solidFill>
              <a:srgbClr val="3182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Source lineage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901952"/>
            <a:ext cx="4937760" cy="530352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Test assembly as 0–1 MIP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0" y="1901952"/>
            <a:ext cx="5943600" cy="530352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van der Linden 2005 — optimal test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432304"/>
            <a:ext cx="49377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Quality-weighted selection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0" y="2432304"/>
            <a:ext cx="59436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van der Linden 2005 (objective in ATA)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62656"/>
            <a:ext cx="4937760" cy="530352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Test blueprint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962656"/>
            <a:ext cx="5943600" cy="530352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classical table-of-specifications design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93008"/>
            <a:ext cx="49377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Bloom-level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493008"/>
            <a:ext cx="59436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Anderson &amp; Krathwohl 2001 (revised Bloom)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4937760" cy="530352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Semantic dedup (embeddings)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4023360"/>
            <a:ext cx="5943600" cy="530352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Sentence-BERT (Reimers &amp; Gurevych 2019)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553712"/>
            <a:ext cx="493776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Largest-remainder 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4553712"/>
            <a:ext cx="5943600" cy="530352"/>
          </a:xfrm>
          <a:prstGeom prst="rect">
            <a:avLst/>
          </a:prstGeom>
          <a:solidFill>
            <a:srgbClr val="FFFFFF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Hamilton apportionment (engineering)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84064"/>
            <a:ext cx="4937760" cy="530352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Greedy baseline, token Jaccard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5084064"/>
            <a:ext cx="5943600" cy="530352"/>
          </a:xfrm>
          <a:prstGeom prst="rect">
            <a:avLst/>
          </a:prstGeom>
          <a:solidFill>
            <a:srgbClr val="F0F0F2"/>
          </a:solidFill>
          <a:ln w="15875">
            <a:solidFill>
              <a:srgbClr val="6363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project-specific engineering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355080"/>
            <a:ext cx="11338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DE2D26"/>
                </a:solidFill>
                <a:latin typeface="Calibri"/>
              </a:rPr>
              <a:t>Note: replace these keys with the thesis's exact bibliography.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508760"/>
            <a:ext cx="2926080" cy="73152"/>
          </a:xfrm>
          <a:prstGeom prst="rect">
            <a:avLst/>
          </a:prstGeom>
          <a:solidFill>
            <a:srgbClr val="3182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→  Scope: SELECT an exam from a question bank — no generation, no LLM.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→  Blueprint = exact spec; counts resolve via largest-remainder.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→  Constraints from YAML and/or CLI flags (flags override).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→  A 0–1 MIP gives exact, optimal, disjoint multi-version assembly.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→  Optional dedup + layered validation (schema, blueprint, dups).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FFFFFF"/>
                </a:solidFill>
                <a:latin typeface="Calibri"/>
              </a:rPr>
              <a:t>→  Runs fully offline; greedy baseline behind the same interface.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