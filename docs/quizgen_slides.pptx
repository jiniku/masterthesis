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37360"/>
            <a:ext cx="12191695" cy="82296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Friedrich-Alexander-Universität Erlangen-Nürnberg  ·  KWARC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457200"/>
            <a:ext cx="1280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alibri"/>
              </a:rPr>
              <a:t>FAU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 i="0">
                <a:solidFill>
                  <a:srgbClr val="002F5E"/>
                </a:solidFill>
                <a:latin typeface="Calibri"/>
              </a:rPr>
              <a:t>quizgen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 i="0">
                <a:solidFill>
                  <a:srgbClr val="222222"/>
                </a:solidFill>
                <a:latin typeface="Calibri"/>
              </a:rPr>
              <a:t>Automated Test Assembly from a Question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636363"/>
                </a:solidFill>
                <a:latin typeface="Calibri"/>
              </a:rPr>
              <a:t>Selecting blueprint-compliant exams from a pool of tagged questions via optimisation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22222"/>
                </a:solidFill>
                <a:latin typeface="Calibri"/>
              </a:rPr>
              <a:t>Master's Thesis — Implementation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636363"/>
                </a:solidFill>
                <a:latin typeface="Calibri"/>
              </a:rPr>
              <a:t>Jiniku Hayashi    ·    Advisor: Prof. Michael Kohlhase</a:t>
            </a:r>
          </a:p>
          <a:p>
            <a:pPr algn="l"/>
            <a:r>
              <a:rPr sz="1400" b="0" i="0">
                <a:solidFill>
                  <a:srgbClr val="636363"/>
                </a:solidFill>
                <a:latin typeface="Calibri"/>
              </a:rPr>
              <a:t>KWARC Group · FAU Erlangen-Nürnberg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Selection as exact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WHAT THE TOOL DOES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636363"/>
                </a:solidFill>
                <a:latin typeface="Calibri"/>
              </a:rPr>
              <a:t>You bring a bank of tagged questions. quizgen picks the exam that matches the professor's blueprint — exactly.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57400"/>
            <a:ext cx="4846320" cy="91440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222222"/>
                </a:solidFill>
                <a:latin typeface="Calibri"/>
              </a:rPr>
              <a:t>INPUT  ·  question bank (JSON) with metadata + a blueprint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057400"/>
            <a:ext cx="4846320" cy="91440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222222"/>
                </a:solidFill>
                <a:latin typeface="Calibri"/>
              </a:rPr>
              <a:t>OUTPUT  ·  one or more disjoint, blueprint-compliant exam versions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2514600"/>
            <a:ext cx="1188720" cy="0"/>
          </a:xfrm>
          <a:prstGeom prst="line">
            <a:avLst/>
          </a:prstGeom>
          <a:ln w="31750">
            <a:solidFill>
              <a:srgbClr val="00B1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3337560"/>
            <a:ext cx="10972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Hitting counts exactly (per chapter, per difficulty, per type, N versions) is a combinatorial optimisation problem — not a prompting problem.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Solved with a 0–1 Mixed-Integer Program: exact, auditable, optimal under a quality objective.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Parallel versions are produced in one solve and provably share no questions.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Every exam embeds the resolved blueprint → self-describing &amp; reproducible.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LLM, no PDF ingestion, no network — runs fully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Architecture: the pipeline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POOL → SELECT → VERIFY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43200"/>
            <a:ext cx="2011680" cy="109728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question bank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(JSON)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91840"/>
            <a:ext cx="54864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Deduplicate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(optional)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12080" y="3291840"/>
            <a:ext cx="73152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9436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Assemble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(greedy / MIP)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55280" y="3291840"/>
            <a:ext cx="731520" cy="0"/>
          </a:xfrm>
          <a:prstGeom prst="line">
            <a:avLst/>
          </a:prstGeom>
          <a:ln w="22860">
            <a:solidFill>
              <a:srgbClr val="6363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0" y="2743200"/>
            <a:ext cx="2011680" cy="109728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Validate</a:t>
            </a:r>
          </a:p>
          <a:p>
            <a:pPr algn="ctr"/>
            <a:r>
              <a:rPr sz="1400" b="1" i="0">
                <a:solidFill>
                  <a:srgbClr val="222222"/>
                </a:solidFill>
                <a:latin typeface="Calibri"/>
              </a:rPr>
              <a:t>(optional)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81360" y="2743200"/>
            <a:ext cx="1097280" cy="109728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exam</a:t>
            </a:r>
          </a:p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versions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98480" y="3291840"/>
            <a:ext cx="182880" cy="0"/>
          </a:xfrm>
          <a:prstGeom prst="line">
            <a:avLst/>
          </a:prstGeom>
          <a:ln w="20320">
            <a:solidFill>
              <a:srgbClr val="31A3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943600" y="1463040"/>
            <a:ext cx="2011680" cy="64008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blueprint</a:t>
            </a:r>
          </a:p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(YAML + flags)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49440" y="2103120"/>
            <a:ext cx="0" cy="640080"/>
          </a:xfrm>
          <a:prstGeom prst="line">
            <a:avLst/>
          </a:prstGeom>
          <a:ln w="20320">
            <a:solidFill>
              <a:srgbClr val="DE2D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0080" y="4663440"/>
            <a:ext cx="1828800" cy="384048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4663440"/>
            <a:ext cx="2011680" cy="3840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processing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4663440"/>
            <a:ext cx="2377440" cy="384048"/>
          </a:xfrm>
          <a:prstGeom prst="round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 i="0">
                <a:solidFill>
                  <a:srgbClr val="222222"/>
                </a:solidFill>
                <a:latin typeface="Calibri"/>
              </a:rPr>
              <a:t>professor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Dedup and validation are opt-in (--dedup / --validate). The blueprint drives assembly; each stage is one module in the quizgen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input: a tagged question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schema.py — Pydantic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 JSON Quiz object (or a bare list) of Question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Pydantic v2 models are the single source of truth; JSON Schema is exported, not hand-written.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Metadata is exactly what selection reasons over: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chapter → per-chapter quotas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difficulty → easy/medium/hard mix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qtype → type filter &amp; type mix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bloom_level → quality objective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36363"/>
                </a:solidFill>
                <a:latin typeface="Calibri"/>
              </a:rPr>
              <a:t>– stem/answer/options → duplicate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486400" cy="402336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{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"chapter": 1,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"section": "1.2",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"qtype": "mcq",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"bloom_level": "understand",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"difficulty": "medium",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"stem": "Explain how A* uses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"options": ["A) ...", "B)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            "C) ...", "D) ..."],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"answer": "A",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"explanation": "A* is optimal ...",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  "source_ref": "ch1_sec2_q1"</a:t>
            </a:r>
          </a:p>
          <a:p>
            <a:pPr algn="l"/>
            <a:r>
              <a:rPr sz="14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blueprint: a table of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blueprint.py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280160"/>
            <a:ext cx="5486400" cy="246888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total_questions: 20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chapters: {1: 50%, 2: 30%, 3: 20%}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difficulty_mix: {easy:.4, medium:.4, hard:.2}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qtype_mix: {mcq:.4, true_false:.2,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            short_answer:.2, cloze:.2}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versions: 2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selector: mip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dedup_similarity: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Counts may be ints, fractions, or "NN%".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resolve() → exact integer counts that sum to the total (largest-remainder).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2F5E"/>
                </a:solidFill>
                <a:latin typeface="Calibri"/>
              </a:rPr>
              <a:t>qtype_mix pins the format balance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Here → 8 mcq / 4 true_false / 4 short_answer / 4 cloze.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Without it the exam tends to come out ALL multiple-choice (MCQs score highest under the quality objective).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Different from allowed_qtypes, which only filters which formats are permitted.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319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182BD"/>
                </a:solidFill>
                <a:latin typeface="Calibri"/>
              </a:rPr>
              <a:t>YAML and/or CLI flags — flags 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389120"/>
            <a:ext cx="5303520" cy="13716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python -m quizgen --pool questions.json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--blueprint blueprint.yaml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--versions 3 --selector greedy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Automated Test Assembly: greedy vs. MIP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assemble.py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80160"/>
            <a:ext cx="5212080" cy="502920"/>
          </a:xfrm>
          <a:prstGeom prst="roundRect">
            <a:avLst/>
          </a:prstGeom>
          <a:solidFill>
            <a:srgbClr val="3182BD"/>
          </a:solidFill>
          <a:ln w="15875">
            <a:solidFill>
              <a:srgbClr val="3182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GreedySelector — fast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7451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Per-chapter fill; tiered passes favour open difficulty &amp; type quotas.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Skips duplicates &amp; already-used items.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Fast; no optimality guarantee.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20"/>
            <a:ext cx="521208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MIPSelector — exact optimisation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0–1 program via PuLP / CBC.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Exact per-chapter, difficulty AND question-type counts.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Disjoint versions; forbids dup pairs.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Infeasible → relax type, then difficulty (logged); never chapter counts.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5486400" cy="283464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max  Σ q_i · x_iv          (quality)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Σ_{chap(i)=c} x_iv = n_c    (per chapter)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Σ_{diff(i)=d} x_iv = m_d    (difficulty)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Σ_{type(i)=p} x_iv = k_p    (question type)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Σ_v  x_iv ≤ 1              (disjoint)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Σ_v x_iv + Σ_v x_jv ≤ 1    (no dup pair)</a:t>
            </a:r>
          </a:p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x_iv ∈ {0, 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3484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One solve produces all parallel versions at once — provably disjoint and each individually blueprint-compliant.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equations actually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THE MIP IN PLAIN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09728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636363"/>
                </a:solidFill>
                <a:latin typeface="Calibri"/>
              </a:rPr>
              <a:t>A MIP is just: lots of yes/no choices  +  one goal  +  rules to obey. The solver flips the switches to score as high as it can while breaking no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737360"/>
            <a:ext cx="4114800" cy="530352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maths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737360"/>
            <a:ext cx="6766560" cy="530352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What it says, in everyday 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267712"/>
            <a:ext cx="411480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x(i,v) = 1 or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2267712"/>
            <a:ext cx="676656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An on/off switch for each question on each paper.  ON = use it here;  OFF = leave it out.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798064"/>
            <a:ext cx="411480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maximise  Σ q(i)·x(i,v)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798064"/>
            <a:ext cx="67665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Every question has a quality score. Turn ON the switches that add up to the best total.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28416"/>
            <a:ext cx="411480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Σ x(i,v) = n_c    (chapter)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3328416"/>
            <a:ext cx="676656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Use EXACTLY the wanted number of questions from each chapter — no more, no less.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58768"/>
            <a:ext cx="411480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Σ x(i,v) = m_d    (difficulty)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3858768"/>
            <a:ext cx="67665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Use EXACTLY the wanted number of easy / medium / hard questions.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389120"/>
            <a:ext cx="411480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Σ x(i,v) = k_p    (type)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4389120"/>
            <a:ext cx="676656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Use EXACTLY the wanted number of each kind (MCQ, true/false, short, cloze).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19472"/>
            <a:ext cx="411480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Σ_v x(i,v) ≤ 1    (no overlap)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4919472"/>
            <a:ext cx="67665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A question may go on at most ONE paper, so two papers never share a question.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449824"/>
            <a:ext cx="411480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onsolas"/>
              </a:rPr>
              <a:t>x(i,·) + x(j,·) ≤ 1  (near-twins)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5449824"/>
            <a:ext cx="6766560" cy="530352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If two questions are almost the same, use at most ONE of them anywhere.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016752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02F5E"/>
                </a:solidFill>
                <a:latin typeface="Calibri"/>
              </a:rPr>
              <a:t>The “=” lines are promises kept exactly; the “≤ 1” lines are limits that stop overlap.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Balanced formats, not all multiple-choice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WHY qtype_mix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222222"/>
                </a:solidFill>
                <a:latin typeface="Calibri"/>
              </a:rPr>
              <a:t>The quality objective rewards well-formed MCQs (+0.2). With no constraint on the type distribution, the optimiser fills every free slot with MCQs.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5212080" cy="548640"/>
          </a:xfrm>
          <a:prstGeom prst="roundRect">
            <a:avLst/>
          </a:prstGeom>
          <a:solidFill>
            <a:srgbClr val="DE2D26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Without qtype_mix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26080"/>
            <a:ext cx="5212080" cy="1463040"/>
          </a:xfrm>
          <a:prstGeom prst="rect">
            <a:avLst/>
          </a:prstGeom>
          <a:solidFill>
            <a:srgbClr val="FDE0DD"/>
          </a:solidFill>
          <a:ln w="15875">
            <a:solidFill>
              <a:srgbClr val="DE2D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v1: mcq 18 · short_answer 1 · cloze 1</a:t>
            </a:r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v2: mcq 19 · short_answer 1</a:t>
            </a:r>
          </a:p>
          <a:p>
            <a:pPr algn="ctr"/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→ effectively all MCQ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5212080" cy="548640"/>
          </a:xfrm>
          <a:prstGeom prst="roundRect">
            <a:avLst/>
          </a:prstGeom>
          <a:solidFill>
            <a:srgbClr val="31A354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With qtype_mix (0.4/0.2/0.2/0.2)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26080"/>
            <a:ext cx="5212080" cy="1463040"/>
          </a:xfrm>
          <a:prstGeom prst="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v1: mcq 8 · true_false 4 · short_answer 4 · cloze 4</a:t>
            </a:r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v2: mcq 8 · true_false 4 · short_answer 4 · cloze 4</a:t>
            </a:r>
          </a:p>
          <a:p>
            <a:pPr algn="ctr"/>
          </a:p>
          <a:p>
            <a:pPr algn="ctr"/>
            <a:r>
              <a:rPr sz="1500" b="0" i="0">
                <a:solidFill>
                  <a:srgbClr val="222222"/>
                </a:solidFill>
                <a:latin typeface="Calibri"/>
              </a:rPr>
              <a:t>→ exact, balanced, still optimal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636363"/>
                </a:solidFill>
                <a:latin typeface="Calibri"/>
              </a:rPr>
              <a:t>The fix is a constraint, not a hack: qtype_mix is the question-type analogue of difficulty_mix, resolved to exact counts (largest-remainder) and enforced per version by both selectors. Pool stays mixed; the mix becomes guaranteed.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Deduplication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similarity.py • dedup.py • validate.py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43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02F5E"/>
                </a:solidFill>
                <a:latin typeface="Calibri"/>
              </a:rPr>
              <a:t>DEDUP (--dedup)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544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Token-Jaccard over stem+answer(+options) — offline, always 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Optional embedding cosine — catches paraphrases.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Drops dups from the pool; MIP also forbids dup pairs across versions.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212080" cy="100584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222222"/>
                </a:solidFill>
                <a:latin typeface="Consolas"/>
              </a:rPr>
              <a:t>sim(q₁,q₂) = |T(q₁) ∩ T(q₂)| / |T(q₁) ∪ T(q₂)|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31A354"/>
                </a:solidFill>
                <a:latin typeface="Calibri"/>
              </a:rPr>
              <a:t>VALIDATE (--validate)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560320" cy="82296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Schema validity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45920"/>
            <a:ext cx="2560320" cy="8229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Blueprint compliance</a:t>
            </a:r>
          </a:p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(chapter · difficulty · type)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606040"/>
            <a:ext cx="2560320" cy="822960"/>
          </a:xfrm>
          <a:prstGeom prst="roundRect">
            <a:avLst/>
          </a:prstGeom>
          <a:solidFill>
            <a:srgbClr val="E5F5E0"/>
          </a:solidFill>
          <a:ln w="15875">
            <a:solidFill>
              <a:srgbClr val="31A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Grounding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606040"/>
            <a:ext cx="2560320" cy="82296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1" i="0">
                <a:solidFill>
                  <a:srgbClr val="222222"/>
                </a:solidFill>
                <a:latin typeface="Calibri"/>
              </a:rPr>
              <a:t>Duplicate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0332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636363"/>
                </a:solidFill>
                <a:latin typeface="Calibri"/>
              </a:rPr>
              <a:t>Overall PASS only if no schema-invalid items and (if checked) the blueprint matches exactly. Exit code feeds CI.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Using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python -m quizgen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  <a:latin typeface="Calibri"/>
              </a:rPr>
              <a:t>Pure command line (no YAML):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600200"/>
            <a:ext cx="10972800" cy="13716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python -m quizgen --pool questions.json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--total 20 --chapters 1:10,2:6,3:4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--difficulty 0.4,0.4,0.2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--qtype-mix mcq:0.4,true_false:0.2,short_answer:0.2,cloze:0.2 \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onsolas"/>
              </a:rPr>
              <a:t>    --versions 2 --selector mip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22222"/>
                </a:solidFill>
                <a:latin typeface="Calibri"/>
              </a:rPr>
              <a:t>Blueprint file + dedup + per-version validation report: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</a:rPr>
              <a:t>python -m quizgen --pool questions.json --blueprint blueprint.yaml \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Consolas"/>
              </a:rPr>
              <a:t>    --dedup --validate --out-dir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Writes one Quiz JSON per version (each embeds the resolved blueprint).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Standalone entry points too: python -m quizgen.assemble, python -m quizgen.validate.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Exits non-zero on any non-compliant version → composes in scripts &amp; CI.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Where each technique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164592"/>
            <a:ext cx="1188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2600" b="1" i="0">
                <a:solidFill>
                  <a:srgbClr val="00B1EB"/>
                </a:solidFill>
                <a:latin typeface="Calibri"/>
              </a:rPr>
              <a:t>FAU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-18288"/>
            <a:ext cx="9144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0B1EB"/>
                </a:solidFill>
                <a:latin typeface="Calibri"/>
              </a:rPr>
              <a:t>TECHNIQUE → SOURCE LINEAGE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002F5E"/>
                </a:solidFill>
                <a:latin typeface="Calibri"/>
              </a:rPr>
              <a:t>J. Hayashi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83680"/>
            <a:ext cx="5760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636363"/>
                </a:solidFill>
                <a:latin typeface="Calibri"/>
              </a:rPr>
              <a:t>quizgen — Automated Test Assembly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658368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002F5E"/>
                </a:solidFill>
                <a:latin typeface="Calibri"/>
              </a:rPr>
              <a:t>FAU Erlangen-Nürnberg  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80160"/>
            <a:ext cx="512064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Implemented in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280160"/>
            <a:ext cx="5760720" cy="502920"/>
          </a:xfrm>
          <a:prstGeom prst="roundRect">
            <a:avLst/>
          </a:prstGeom>
          <a:solidFill>
            <a:srgbClr val="002F5E"/>
          </a:solidFill>
          <a:ln w="15875">
            <a:solidFill>
              <a:srgbClr val="002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Source lineage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78308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Test assembly as 0–1 MIP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78308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van der Linden 2005 — optimal test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8600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Quality-weighted selection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28600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van der Linden 2005 (objective in ATA)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8892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Test blueprint / type &amp; difficulty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278892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classical table-of-specifications design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4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Bloom-level metadata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29184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Anderson &amp; Krathwohl 2001 (revised Bloom)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Semantic dedup (embeddings)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379476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Sentence-BERT (Reimers &amp; Gurevych 2019)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97680"/>
            <a:ext cx="51206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Largest-remainder 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4297680"/>
            <a:ext cx="57607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Hamilton apportionment (engineering)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00600"/>
            <a:ext cx="512064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Greedy baseline, token Jaccard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4800600"/>
            <a:ext cx="5760720" cy="502920"/>
          </a:xfrm>
          <a:prstGeom prst="rect">
            <a:avLst/>
          </a:prstGeom>
          <a:solidFill>
            <a:srgbClr val="F0F0F2"/>
          </a:solidFill>
          <a:ln w="15875">
            <a:solidFill>
              <a:srgbClr val="6363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200" b="0" i="0">
                <a:solidFill>
                  <a:srgbClr val="222222"/>
                </a:solidFill>
                <a:latin typeface="Calibri"/>
              </a:rPr>
              <a:t>project-specific 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36363"/>
                </a:solidFill>
                <a:latin typeface="Calibri"/>
              </a:rPr>
              <a:t>See docs/references.bib for the full, verified bibliography.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457200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000" b="1" i="0">
                <a:solidFill>
                  <a:srgbClr val="FFFFFF"/>
                </a:solidFill>
                <a:latin typeface="Calibri"/>
              </a:rPr>
              <a:t>FAU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08760"/>
            <a:ext cx="2926080" cy="73152"/>
          </a:xfrm>
          <a:prstGeom prst="rect">
            <a:avLst/>
          </a:prstGeom>
          <a:solidFill>
            <a:srgbClr val="00B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Scope: SELECT an exam from a question bank — no generation, no LLM.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Blueprint = exact spec; counts resolve via largest-remainder.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qtype_mix pins the format balance (else the exam goes all-MCQ).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A 0–1 MIP gives exact, optimal, disjoint multi-version assembly.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Optional dedup + layered validation (schema, blueprint, dups).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→  Runs fully offline; greedy baseline behind the same interface.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