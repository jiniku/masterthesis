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97680"/>
            <a:ext cx="12191695" cy="109728"/>
          </a:xfrm>
          <a:prstGeom prst="rect">
            <a:avLst/>
          </a:prstGeom>
          <a:solidFill>
            <a:srgbClr val="3182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600" b="1" i="0">
                <a:solidFill>
                  <a:srgbClr val="FFFFFF"/>
                </a:solidFill>
                <a:latin typeface="Calibri"/>
              </a:rPr>
              <a:t>quizgen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71800"/>
            <a:ext cx="106984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0" i="0">
                <a:solidFill>
                  <a:srgbClr val="DEEBF7"/>
                </a:solidFill>
                <a:latin typeface="Calibri"/>
              </a:rPr>
              <a:t>Automated exam &amp; quiz generation from a textbook</a:t>
            </a:r>
          </a:p>
          <a:p>
            <a:pPr algn="l"/>
            <a:r>
              <a:rPr sz="2600" b="0" i="0">
                <a:solidFill>
                  <a:srgbClr val="DEEBF7"/>
                </a:solidFill>
                <a:latin typeface="Calibri"/>
              </a:rPr>
              <a:t>A generate-then-select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5720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RAG grounding   •   Bloom-controlled generation   •   Automated Test Assembly (MIP)</a:t>
            </a:r>
          </a:p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Master's Thesis — KWARC Group, FAU Erlangen-Nürnberg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The core idea: generate, then select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828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EEBF7"/>
                </a:solidFill>
                <a:latin typeface="Calibri"/>
              </a:rPr>
              <a:t>WHY THIS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1">
                <a:solidFill>
                  <a:srgbClr val="636363"/>
                </a:solidFill>
                <a:latin typeface="Calibri"/>
              </a:rPr>
              <a:t>Don't ask one prompt to write "the exam". Split the job into two stages with very different failure modes.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5029200" cy="914400"/>
          </a:xfrm>
          <a:prstGeom prst="roundRect">
            <a:avLst/>
          </a:prstGeom>
          <a:solidFill>
            <a:srgbClr val="DEEBF7"/>
          </a:solidFill>
          <a:ln w="15875">
            <a:solidFill>
              <a:srgbClr val="3182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500" b="1" i="0">
                <a:solidFill>
                  <a:srgbClr val="333333"/>
                </a:solidFill>
                <a:latin typeface="Calibri"/>
              </a:rPr>
              <a:t>GENERATE  →  over-produce a large, tagged, source-grounded POOL of candidates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2103120"/>
            <a:ext cx="5029200" cy="914400"/>
          </a:xfrm>
          <a:prstGeom prst="roundRect">
            <a:avLst/>
          </a:prstGeom>
          <a:solidFill>
            <a:srgbClr val="E5F5E0"/>
          </a:solidFill>
          <a:ln w="15875">
            <a:solidFill>
              <a:srgbClr val="31A3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500" b="1" i="0">
                <a:solidFill>
                  <a:srgbClr val="333333"/>
                </a:solidFill>
                <a:latin typeface="Calibri"/>
              </a:rPr>
              <a:t>SELECT  →  pick the optimal subset matching the professor's BLUEPRINT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669280" y="2560320"/>
            <a:ext cx="822960" cy="0"/>
          </a:xfrm>
          <a:prstGeom prst="line">
            <a:avLst/>
          </a:prstGeom>
          <a:ln w="31750">
            <a:solidFill>
              <a:srgbClr val="6363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0080" y="3383280"/>
            <a:ext cx="109728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Creative &amp; stochastic generation is decoupled from exact constraint satisfaction.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Auditability — every question traces to a source chunk; every exam traces to a blueprint.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Exact constraints — selection is solved with a Mixed-Integer Program, not coaxed from a prompt.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Reusability — one pool yields many exams and parallel versions.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Separable evaluation — grounding, dedup, schema validation &amp; LLM-judge act on finished artifacts.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Architecture: the pipeline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828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EEBF7"/>
                </a:solidFill>
                <a:latin typeface="Calibri"/>
              </a:rPr>
              <a:t>FIVE STAGES, ONE 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91743" y="2468880"/>
            <a:ext cx="1371600" cy="1051560"/>
          </a:xfrm>
          <a:prstGeom prst="roundRect">
            <a:avLst/>
          </a:prstGeom>
          <a:solidFill>
            <a:srgbClr val="DEEBF7"/>
          </a:solidFill>
          <a:ln w="15875">
            <a:solidFill>
              <a:srgbClr val="3182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1</a:t>
            </a:r>
          </a:p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Ingest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63343" y="2994660"/>
            <a:ext cx="201168" cy="0"/>
          </a:xfrm>
          <a:prstGeom prst="line">
            <a:avLst/>
          </a:prstGeom>
          <a:ln w="22860">
            <a:solidFill>
              <a:srgbClr val="6363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264511" y="2468880"/>
            <a:ext cx="1371600" cy="1051560"/>
          </a:xfrm>
          <a:prstGeom prst="roundRect">
            <a:avLst/>
          </a:prstGeom>
          <a:solidFill>
            <a:srgbClr val="DEEBF7"/>
          </a:solidFill>
          <a:ln w="15875">
            <a:solidFill>
              <a:srgbClr val="3182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2</a:t>
            </a:r>
          </a:p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Index</a:t>
            </a:r>
          </a:p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(RAG)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36111" y="2994660"/>
            <a:ext cx="201168" cy="0"/>
          </a:xfrm>
          <a:prstGeom prst="line">
            <a:avLst/>
          </a:prstGeom>
          <a:ln w="22860">
            <a:solidFill>
              <a:srgbClr val="6363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837279" y="2468880"/>
            <a:ext cx="1371600" cy="1051560"/>
          </a:xfrm>
          <a:prstGeom prst="roundRect">
            <a:avLst/>
          </a:prstGeom>
          <a:solidFill>
            <a:srgbClr val="DEEBF7"/>
          </a:solidFill>
          <a:ln w="15875">
            <a:solidFill>
              <a:srgbClr val="3182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3</a:t>
            </a:r>
          </a:p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Generate</a:t>
            </a:r>
          </a:p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pool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208879" y="2994660"/>
            <a:ext cx="201168" cy="0"/>
          </a:xfrm>
          <a:prstGeom prst="line">
            <a:avLst/>
          </a:prstGeom>
          <a:ln w="22860">
            <a:solidFill>
              <a:srgbClr val="6363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410047" y="2468880"/>
            <a:ext cx="1371600" cy="1051560"/>
          </a:xfrm>
          <a:prstGeom prst="roundRect">
            <a:avLst/>
          </a:prstGeom>
          <a:solidFill>
            <a:srgbClr val="DEEBF7"/>
          </a:solidFill>
          <a:ln w="15875">
            <a:solidFill>
              <a:srgbClr val="3182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4a</a:t>
            </a:r>
          </a:p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Dedup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781647" y="2994660"/>
            <a:ext cx="201168" cy="0"/>
          </a:xfrm>
          <a:prstGeom prst="line">
            <a:avLst/>
          </a:prstGeom>
          <a:ln w="22860">
            <a:solidFill>
              <a:srgbClr val="6363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982815" y="2468880"/>
            <a:ext cx="1371600" cy="1051560"/>
          </a:xfrm>
          <a:prstGeom prst="roundRect">
            <a:avLst/>
          </a:prstGeom>
          <a:solidFill>
            <a:srgbClr val="DEEBF7"/>
          </a:solidFill>
          <a:ln w="15875">
            <a:solidFill>
              <a:srgbClr val="3182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4b</a:t>
            </a:r>
          </a:p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Assemble</a:t>
            </a:r>
          </a:p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(MIP)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354415" y="2994660"/>
            <a:ext cx="201168" cy="0"/>
          </a:xfrm>
          <a:prstGeom prst="line">
            <a:avLst/>
          </a:prstGeom>
          <a:ln w="22860">
            <a:solidFill>
              <a:srgbClr val="6363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555583" y="2468880"/>
            <a:ext cx="1371600" cy="1051560"/>
          </a:xfrm>
          <a:prstGeom prst="roundRect">
            <a:avLst/>
          </a:prstGeom>
          <a:solidFill>
            <a:srgbClr val="DEEBF7"/>
          </a:solidFill>
          <a:ln w="15875">
            <a:solidFill>
              <a:srgbClr val="3182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5</a:t>
            </a:r>
          </a:p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Validate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927183" y="2994660"/>
            <a:ext cx="201168" cy="0"/>
          </a:xfrm>
          <a:prstGeom prst="line">
            <a:avLst/>
          </a:prstGeom>
          <a:ln w="22860">
            <a:solidFill>
              <a:srgbClr val="6363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0128351" y="2468880"/>
            <a:ext cx="1371600" cy="1051560"/>
          </a:xfrm>
          <a:prstGeom prst="roundRect">
            <a:avLst/>
          </a:prstGeom>
          <a:solidFill>
            <a:srgbClr val="DEEBF7"/>
          </a:solidFill>
          <a:ln w="15875">
            <a:solidFill>
              <a:srgbClr val="3182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5</a:t>
            </a:r>
          </a:p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Judge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743" y="1417320"/>
            <a:ext cx="1371600" cy="548640"/>
          </a:xfrm>
          <a:prstGeom prst="rect">
            <a:avLst/>
          </a:prstGeom>
          <a:solidFill>
            <a:srgbClr val="E5F5E0"/>
          </a:solidFill>
          <a:ln w="15875">
            <a:solidFill>
              <a:srgbClr val="31A3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 i="0">
                <a:solidFill>
                  <a:srgbClr val="333333"/>
                </a:solidFill>
                <a:latin typeface="Calibri"/>
              </a:rPr>
              <a:t>textbook.pdf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377543" y="1965960"/>
            <a:ext cx="0" cy="502920"/>
          </a:xfrm>
          <a:prstGeom prst="line">
            <a:avLst/>
          </a:prstGeom>
          <a:ln w="20320">
            <a:solidFill>
              <a:srgbClr val="31A35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3837279" y="1417320"/>
            <a:ext cx="1371600" cy="548640"/>
          </a:xfrm>
          <a:prstGeom prst="rect">
            <a:avLst/>
          </a:prstGeom>
          <a:solidFill>
            <a:srgbClr val="E5F5E0"/>
          </a:solidFill>
          <a:ln w="15875">
            <a:solidFill>
              <a:srgbClr val="31A3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 i="0">
                <a:solidFill>
                  <a:srgbClr val="333333"/>
                </a:solidFill>
                <a:latin typeface="Calibri"/>
              </a:rPr>
              <a:t>tagged pool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4523079" y="1965960"/>
            <a:ext cx="0" cy="502920"/>
          </a:xfrm>
          <a:prstGeom prst="line">
            <a:avLst/>
          </a:prstGeom>
          <a:ln w="20320">
            <a:prstDash val="dash"/>
            <a:solidFill>
              <a:srgbClr val="31A35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6982815" y="1417320"/>
            <a:ext cx="1371600" cy="548640"/>
          </a:xfrm>
          <a:prstGeom prst="rect">
            <a:avLst/>
          </a:prstGeom>
          <a:solidFill>
            <a:srgbClr val="FDE0DD"/>
          </a:solidFill>
          <a:ln w="15875">
            <a:solidFill>
              <a:srgbClr val="DE2D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 i="0">
                <a:solidFill>
                  <a:srgbClr val="333333"/>
                </a:solidFill>
                <a:latin typeface="Calibri"/>
              </a:rPr>
              <a:t>blueprint.yaml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668615" y="1965960"/>
            <a:ext cx="0" cy="502920"/>
          </a:xfrm>
          <a:prstGeom prst="line">
            <a:avLst/>
          </a:prstGeom>
          <a:ln w="20320">
            <a:solidFill>
              <a:srgbClr val="DE2D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8555583" y="3840480"/>
            <a:ext cx="1371600" cy="548640"/>
          </a:xfrm>
          <a:prstGeom prst="rect">
            <a:avLst/>
          </a:prstGeom>
          <a:solidFill>
            <a:srgbClr val="E5F5E0"/>
          </a:solidFill>
          <a:ln w="15875">
            <a:solidFill>
              <a:srgbClr val="31A3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 i="0">
                <a:solidFill>
                  <a:srgbClr val="333333"/>
                </a:solidFill>
                <a:latin typeface="Calibri"/>
              </a:rPr>
              <a:t>exam versions</a:t>
            </a:r>
          </a:p>
          <a:p>
            <a:pPr algn="ctr"/>
            <a:r>
              <a:rPr sz="1000" b="1" i="0">
                <a:solidFill>
                  <a:srgbClr val="333333"/>
                </a:solidFill>
                <a:latin typeface="Calibri"/>
              </a:rPr>
              <a:t>+ reports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241383" y="3520440"/>
            <a:ext cx="0" cy="320040"/>
          </a:xfrm>
          <a:prstGeom prst="line">
            <a:avLst/>
          </a:prstGeom>
          <a:ln w="20320">
            <a:solidFill>
              <a:srgbClr val="31A35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40080" y="5120640"/>
            <a:ext cx="1828800" cy="384048"/>
          </a:xfrm>
          <a:prstGeom prst="roundRect">
            <a:avLst/>
          </a:prstGeom>
          <a:solidFill>
            <a:srgbClr val="DEEBF7"/>
          </a:solidFill>
          <a:ln w="15875">
            <a:solidFill>
              <a:srgbClr val="3182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 i="0">
                <a:solidFill>
                  <a:srgbClr val="333333"/>
                </a:solidFill>
                <a:latin typeface="Calibri"/>
              </a:rPr>
              <a:t>processing stage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51760" y="5120640"/>
            <a:ext cx="1828800" cy="384048"/>
          </a:xfrm>
          <a:prstGeom prst="roundRect">
            <a:avLst/>
          </a:prstGeom>
          <a:solidFill>
            <a:srgbClr val="E5F5E0"/>
          </a:solidFill>
          <a:ln w="15875">
            <a:solidFill>
              <a:srgbClr val="31A3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 i="0">
                <a:solidFill>
                  <a:srgbClr val="333333"/>
                </a:solidFill>
                <a:latin typeface="Calibri"/>
              </a:rPr>
              <a:t>data artifact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5120640"/>
            <a:ext cx="2194560" cy="384048"/>
          </a:xfrm>
          <a:prstGeom prst="roundRect">
            <a:avLst/>
          </a:prstGeom>
          <a:solidFill>
            <a:srgbClr val="FDE0DD"/>
          </a:solidFill>
          <a:ln w="15875">
            <a:solidFill>
              <a:srgbClr val="DE2D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 i="0">
                <a:solidFill>
                  <a:srgbClr val="333333"/>
                </a:solidFill>
                <a:latin typeface="Calibri"/>
              </a:rPr>
              <a:t>professor input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6692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636363"/>
                </a:solidFill>
                <a:latin typeface="Calibri"/>
              </a:rPr>
              <a:t>Stages 1–3 PRODUCE candidate questions (grounded in retrieved text). Stages 4–5 SELECT and VERIFY them. Each stage = one module in the quizgen package.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The data contract: one schema, exported not written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828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EEBF7"/>
                </a:solidFill>
                <a:latin typeface="Calibri"/>
              </a:rPr>
              <a:t>schema.py — Pydantic v2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• Every artifact is a Pydantic v2 model — the single source of truth.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• JSON Schema is EXPORTED from the models, so they can never drift.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• Three enums reused everywhere: a tag can't be a free-text typo.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636363"/>
                </a:solidFill>
                <a:latin typeface="Calibri"/>
              </a:rPr>
              <a:t>– qtype: mcq | true_false | short_answer | cloze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636363"/>
                </a:solidFill>
                <a:latin typeface="Calibri"/>
              </a:rPr>
              <a:t>– bloom_level: remember … create (revised Bloom)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636363"/>
                </a:solidFill>
                <a:latin typeface="Calibri"/>
              </a:rPr>
              <a:t>– difficulty: easy | medium | hard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• source_ref links each question to the chunk(s) it was grounded in — the audit trail.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325880"/>
            <a:ext cx="5486400" cy="3657600"/>
          </a:xfrm>
          <a:prstGeom prst="rect">
            <a:avLst/>
          </a:prstGeom>
          <a:solidFill>
            <a:srgbClr val="F0F0F2"/>
          </a:solidFill>
          <a:ln w="15875">
            <a:solidFill>
              <a:srgbClr val="6363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400" b="0" i="0">
                <a:solidFill>
                  <a:srgbClr val="333333"/>
                </a:solidFill>
                <a:latin typeface="Consolas"/>
              </a:rPr>
              <a:t>class Question(BaseModel):</a:t>
            </a:r>
          </a:p>
          <a:p>
            <a:pPr algn="l"/>
            <a:r>
              <a:rPr sz="1400" b="0" i="0">
                <a:solidFill>
                  <a:srgbClr val="333333"/>
                </a:solidFill>
                <a:latin typeface="Consolas"/>
              </a:rPr>
              <a:t>    id: str            # uuid4 hex[:12]</a:t>
            </a:r>
          </a:p>
          <a:p>
            <a:pPr algn="l"/>
            <a:r>
              <a:rPr sz="1400" b="0" i="0">
                <a:solidFill>
                  <a:srgbClr val="333333"/>
                </a:solidFill>
                <a:latin typeface="Consolas"/>
              </a:rPr>
              <a:t>    chapter: int</a:t>
            </a:r>
          </a:p>
          <a:p>
            <a:pPr algn="l"/>
            <a:r>
              <a:rPr sz="1400" b="0" i="0">
                <a:solidFill>
                  <a:srgbClr val="333333"/>
                </a:solidFill>
                <a:latin typeface="Consolas"/>
              </a:rPr>
              <a:t>    section: str | None</a:t>
            </a:r>
          </a:p>
          <a:p>
            <a:pPr algn="l"/>
            <a:r>
              <a:rPr sz="1400" b="0" i="0">
                <a:solidFill>
                  <a:srgbClr val="333333"/>
                </a:solidFill>
                <a:latin typeface="Consolas"/>
              </a:rPr>
              <a:t>    qtype: QuestionType</a:t>
            </a:r>
          </a:p>
          <a:p>
            <a:pPr algn="l"/>
            <a:r>
              <a:rPr sz="1400" b="0" i="0">
                <a:solidFill>
                  <a:srgbClr val="333333"/>
                </a:solidFill>
                <a:latin typeface="Consolas"/>
              </a:rPr>
              <a:t>    bloom_level: BloomLevel</a:t>
            </a:r>
          </a:p>
          <a:p>
            <a:pPr algn="l"/>
            <a:r>
              <a:rPr sz="1400" b="0" i="0">
                <a:solidFill>
                  <a:srgbClr val="333333"/>
                </a:solidFill>
                <a:latin typeface="Consolas"/>
              </a:rPr>
              <a:t>    difficulty: Difficulty</a:t>
            </a:r>
          </a:p>
          <a:p>
            <a:pPr algn="l"/>
            <a:r>
              <a:rPr sz="1400" b="0" i="0">
                <a:solidFill>
                  <a:srgbClr val="333333"/>
                </a:solidFill>
                <a:latin typeface="Consolas"/>
              </a:rPr>
              <a:t>    stem: str          # &gt;= 10 chars</a:t>
            </a:r>
          </a:p>
          <a:p>
            <a:pPr algn="l"/>
            <a:r>
              <a:rPr sz="1400" b="0" i="0">
                <a:solidFill>
                  <a:srgbClr val="333333"/>
                </a:solidFill>
                <a:latin typeface="Consolas"/>
              </a:rPr>
              <a:t>    options: list[str] | None</a:t>
            </a:r>
          </a:p>
          <a:p>
            <a:pPr algn="l"/>
            <a:r>
              <a:rPr sz="1400" b="0" i="0">
                <a:solidFill>
                  <a:srgbClr val="333333"/>
                </a:solidFill>
                <a:latin typeface="Consolas"/>
              </a:rPr>
              <a:t>    answer: str</a:t>
            </a:r>
          </a:p>
          <a:p>
            <a:pPr algn="l"/>
            <a:r>
              <a:rPr sz="1400" b="0" i="0">
                <a:solidFill>
                  <a:srgbClr val="333333"/>
                </a:solidFill>
                <a:latin typeface="Consolas"/>
              </a:rPr>
              <a:t>    explanation: str   # &gt;= 10 chars</a:t>
            </a:r>
          </a:p>
          <a:p>
            <a:pPr algn="l"/>
            <a:r>
              <a:rPr sz="1400" b="0" i="0">
                <a:solidFill>
                  <a:srgbClr val="333333"/>
                </a:solidFill>
                <a:latin typeface="Consolas"/>
              </a:rPr>
              <a:t>    source_ref: str    # grounding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Stages 1–2: ingest &amp; 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828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EEBF7"/>
                </a:solidFill>
                <a:latin typeface="Calibri"/>
              </a:rPr>
              <a:t>ingest.py  •  index.py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3182BD"/>
                </a:solidFill>
                <a:latin typeface="Calibri"/>
              </a:rPr>
              <a:t>① INGEST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• PyMuPDF extracts text; the PDF table of contents gives chapter/section structure.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• Sections split into overlapping ~500–800 token chunks with provenance metadata.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• Offline fallback: a word-tokenizer shim replaces tiktoken when its vocab can't download.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3182BD"/>
                </a:solidFill>
                <a:latin typeface="Calibri"/>
              </a:rPr>
              <a:t>② INDEX (RAG)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00200"/>
            <a:ext cx="52120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• Chunks embedded with sentence-transformers (all-MiniLM-L6-v2) into a local ChromaDB.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• Top-k retrieval (filterable by chapter) supplies grounding CONTEXT to the generator.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• = Retrieval-Augmented Generation: model writes only about retrieved text.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• A word-overlap heuristic flags answers that don't match their context.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846320"/>
            <a:ext cx="10972800" cy="1005840"/>
          </a:xfrm>
          <a:prstGeom prst="roundRect">
            <a:avLst/>
          </a:prstGeom>
          <a:solidFill>
            <a:srgbClr val="E5F5E0"/>
          </a:solidFill>
          <a:ln w="15875">
            <a:solidFill>
              <a:srgbClr val="31A3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600" b="0" i="0">
                <a:solidFill>
                  <a:srgbClr val="333333"/>
                </a:solidFill>
                <a:latin typeface="Calibri"/>
              </a:rPr>
              <a:t>Why it matters:  grounding makes source_ref meaningful, keeps questions factual &amp; on-topic, and gives the whole pipeline a traceable audit trail.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Stage 3: controlled, grounded generation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828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EEBF7"/>
                </a:solidFill>
                <a:latin typeface="Calibri"/>
              </a:rPr>
              <a:t>bloom.py • generate.py • llm_client.py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3566160" cy="502920"/>
          </a:xfrm>
          <a:prstGeom prst="roundRect">
            <a:avLst/>
          </a:prstGeom>
          <a:solidFill>
            <a:srgbClr val="3182BD"/>
          </a:solidFill>
          <a:ln w="15875">
            <a:solidFill>
              <a:srgbClr val="3182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WHAT to ask  (bloom.py)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965960"/>
            <a:ext cx="35661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Single source of truth for prompt-craft.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Per-level Bloom + difficulty descriptions.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One few-shot example per Bloom level.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build_balanced_plan → ordered QuestionSpecs.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Largest-remainder makes counts EXACT.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371600"/>
            <a:ext cx="3566160" cy="502920"/>
          </a:xfrm>
          <a:prstGeom prst="roundRect">
            <a:avLst/>
          </a:prstGeom>
          <a:solidFill>
            <a:srgbClr val="3182BD"/>
          </a:solidFill>
          <a:ln w="15875">
            <a:solidFill>
              <a:srgbClr val="3182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HOW to ask  (generate.py)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1965960"/>
            <a:ext cx="35661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Batched by Bloom level per LLM call.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Explicit numbered #SPEC directives.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Tag COERCION: returned questions are re-tagged to the requested level.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→ pool distribution matches the plan by construction.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371600"/>
            <a:ext cx="3566160" cy="502920"/>
          </a:xfrm>
          <a:prstGeom prst="roundRect">
            <a:avLst/>
          </a:prstGeom>
          <a:solidFill>
            <a:srgbClr val="3182BD"/>
          </a:solidFill>
          <a:ln w="15875">
            <a:solidFill>
              <a:srgbClr val="3182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VALID JSON  (llm_client)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65960"/>
            <a:ext cx="35661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Swappable OpenAI-compatible client (GLM / Ollama / vLLM / OpenAI).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chat_schema: strict json_schema → json_object → outlines.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Pydantic re-validates every item.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Shape guaranteed, never facts.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257800"/>
            <a:ext cx="11064240" cy="822960"/>
          </a:xfrm>
          <a:prstGeom prst="rect">
            <a:avLst/>
          </a:prstGeom>
          <a:solidFill>
            <a:srgbClr val="F0F0F2"/>
          </a:solidFill>
          <a:ln w="15875">
            <a:solidFill>
              <a:srgbClr val="6363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300" b="0" i="0">
                <a:solidFill>
                  <a:srgbClr val="333333"/>
                </a:solidFill>
                <a:latin typeface="Consolas"/>
              </a:rPr>
              <a:t>#SPEC 1 | bloom=apply | difficulty=medium | qtype=mcq        #SPEC 2 | bloom=apply | difficulty=hard | qtype=short_answer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Stage 4: blueprint → Automated Test Assembly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828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EEBF7"/>
                </a:solidFill>
                <a:latin typeface="Calibri"/>
              </a:rPr>
              <a:t>blueprint.py • assemble.py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4206240" cy="2286000"/>
          </a:xfrm>
          <a:prstGeom prst="rect">
            <a:avLst/>
          </a:prstGeom>
          <a:solidFill>
            <a:srgbClr val="FDE0DD"/>
          </a:solidFill>
          <a:ln w="15875">
            <a:solidFill>
              <a:srgbClr val="DE2D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400" b="0" i="0">
                <a:solidFill>
                  <a:srgbClr val="333333"/>
                </a:solidFill>
                <a:latin typeface="Consolas"/>
              </a:rPr>
              <a:t>total_questions: 20</a:t>
            </a:r>
          </a:p>
          <a:p>
            <a:pPr algn="ctr"/>
            <a:r>
              <a:rPr sz="1400" b="0" i="0">
                <a:solidFill>
                  <a:srgbClr val="333333"/>
                </a:solidFill>
                <a:latin typeface="Consolas"/>
              </a:rPr>
              <a:t>chapters: {1: 50%, 2: 30%, 3: 20%}</a:t>
            </a:r>
          </a:p>
          <a:p>
            <a:pPr algn="ctr"/>
            <a:r>
              <a:rPr sz="1400" b="0" i="0">
                <a:solidFill>
                  <a:srgbClr val="333333"/>
                </a:solidFill>
                <a:latin typeface="Consolas"/>
              </a:rPr>
              <a:t>difficulty_mix: {easy:.4, medium:.4, hard:.2}</a:t>
            </a:r>
          </a:p>
          <a:p>
            <a:pPr algn="ctr"/>
            <a:r>
              <a:rPr sz="1400" b="0" i="0">
                <a:solidFill>
                  <a:srgbClr val="333333"/>
                </a:solidFill>
                <a:latin typeface="Consolas"/>
              </a:rPr>
              <a:t>versions: 2</a:t>
            </a:r>
          </a:p>
          <a:p>
            <a:pPr algn="ctr"/>
            <a:r>
              <a:rPr sz="1400" b="0" i="0">
                <a:solidFill>
                  <a:srgbClr val="333333"/>
                </a:solidFill>
                <a:latin typeface="Consolas"/>
              </a:rPr>
              <a:t>selector: mip</a:t>
            </a:r>
          </a:p>
          <a:p>
            <a:pPr algn="ctr"/>
            <a:r>
              <a:rPr sz="1400" b="0" i="0">
                <a:solidFill>
                  <a:srgbClr val="333333"/>
                </a:solidFill>
                <a:latin typeface="Consolas"/>
              </a:rPr>
              <a:t>dedup_similarity: 0.85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03320"/>
            <a:ext cx="429768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636363"/>
                </a:solidFill>
                <a:latin typeface="Calibri"/>
              </a:rPr>
              <a:t>The professor edits one small YAML.</a:t>
            </a:r>
          </a:p>
          <a:p>
            <a:pPr algn="l"/>
            <a:r>
              <a:rPr sz="1400" b="0" i="1">
                <a:solidFill>
                  <a:srgbClr val="636363"/>
                </a:solidFill>
                <a:latin typeface="Calibri"/>
              </a:rPr>
              <a:t>Counts may be ints, fractions or "NN%"; resolve() turns them into exact integer counts (largest-remainder).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1280160"/>
            <a:ext cx="6583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33333"/>
                </a:solidFill>
                <a:latin typeface="Calibri"/>
              </a:rPr>
              <a:t>Selection = optimisation.  0–1 Mixed-Integer Program (PuLP/CBC):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1828800"/>
            <a:ext cx="6583680" cy="2286000"/>
          </a:xfrm>
          <a:prstGeom prst="rect">
            <a:avLst/>
          </a:prstGeom>
          <a:solidFill>
            <a:srgbClr val="F0F0F2"/>
          </a:solidFill>
          <a:ln w="15875">
            <a:solidFill>
              <a:srgbClr val="6363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400" b="0" i="0">
                <a:solidFill>
                  <a:srgbClr val="333333"/>
                </a:solidFill>
                <a:latin typeface="Consolas"/>
              </a:rPr>
              <a:t>maximise   Σ  q_i · x_iv            (total quality)</a:t>
            </a:r>
          </a:p>
          <a:p>
            <a:pPr algn="ctr"/>
            <a:r>
              <a:rPr sz="1400" b="0" i="0">
                <a:solidFill>
                  <a:srgbClr val="333333"/>
                </a:solidFill>
                <a:latin typeface="Consolas"/>
              </a:rPr>
              <a:t>s.t.   Σ_{chap(i)=c}  x_iv  =  n_c    (exact per-chapter)</a:t>
            </a:r>
          </a:p>
          <a:p>
            <a:pPr algn="ctr"/>
            <a:r>
              <a:rPr sz="1400" b="0" i="0">
                <a:solidFill>
                  <a:srgbClr val="333333"/>
                </a:solidFill>
                <a:latin typeface="Consolas"/>
              </a:rPr>
              <a:t>       Σ_{diff(i)=d}  x_iv  =  m_d    (exact difficulty)</a:t>
            </a:r>
          </a:p>
          <a:p>
            <a:pPr algn="ctr"/>
            <a:r>
              <a:rPr sz="1400" b="0" i="0">
                <a:solidFill>
                  <a:srgbClr val="333333"/>
                </a:solidFill>
                <a:latin typeface="Consolas"/>
              </a:rPr>
              <a:t>       Σ_v  x_iv  ≤  1               (versions disjoint)</a:t>
            </a:r>
          </a:p>
          <a:p>
            <a:pPr algn="ctr"/>
            <a:r>
              <a:rPr sz="1400" b="0" i="0">
                <a:solidFill>
                  <a:srgbClr val="333333"/>
                </a:solidFill>
                <a:latin typeface="Consolas"/>
              </a:rPr>
              <a:t>       Σ_v x_iv + Σ_v x_jv ≤ 1       (forbid dup pairs)</a:t>
            </a:r>
          </a:p>
          <a:p>
            <a:pPr algn="ctr"/>
            <a:r>
              <a:rPr sz="1400" b="0" i="0">
                <a:solidFill>
                  <a:srgbClr val="333333"/>
                </a:solidFill>
                <a:latin typeface="Consolas"/>
              </a:rPr>
              <a:t>       x_iv ∈ {0, 1}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4297680"/>
            <a:ext cx="6675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One solve produces all parallel versions, disjoint &amp; individually compliant.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Infeasible? difficulty equalities relax (logged); per-chapter counts never violated.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GreedySelector = fast baseline behind the same interface (config switch).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Deduplication: keep versions distinct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828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EEBF7"/>
                </a:solidFill>
                <a:latin typeface="Calibri"/>
              </a:rPr>
              <a:t>similarity.py • dedup.py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• Near-duplicates waste blueprint slots and make versions predictable.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• One API, two backends:</a:t>
            </a:r>
          </a:p>
          <a:p>
            <a:pPr lvl="1">
              <a:spcAft>
                <a:spcPts val="800"/>
              </a:spcAft>
            </a:pPr>
            <a:r>
              <a:rPr sz="1400">
                <a:solidFill>
                  <a:srgbClr val="636363"/>
                </a:solidFill>
                <a:latin typeface="Calibri"/>
              </a:rPr>
              <a:t>– Token-Jaccard over stem+answer(+options) — always available, offline.</a:t>
            </a:r>
          </a:p>
          <a:p>
            <a:pPr lvl="1">
              <a:spcAft>
                <a:spcPts val="800"/>
              </a:spcAft>
            </a:pPr>
            <a:r>
              <a:rPr sz="1400">
                <a:solidFill>
                  <a:srgbClr val="636363"/>
                </a:solidFill>
                <a:latin typeface="Calibri"/>
              </a:rPr>
              <a:t>– Embedding cosine via the RAG encoder — catches paraphrases.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• Dedup drops the later of each pair BEFORE assembly…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• …and the MIP additionally forbids any surviving dup pair across versions.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• Degrades gracefully: no encoder ⇒ token backend automatically.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92240" y="1554480"/>
            <a:ext cx="5029200" cy="1188720"/>
          </a:xfrm>
          <a:prstGeom prst="rect">
            <a:avLst/>
          </a:prstGeom>
          <a:solidFill>
            <a:srgbClr val="F0F0F2"/>
          </a:solidFill>
          <a:ln w="15875">
            <a:solidFill>
              <a:srgbClr val="6363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500" b="0" i="0">
                <a:solidFill>
                  <a:srgbClr val="333333"/>
                </a:solidFill>
                <a:latin typeface="Consolas"/>
              </a:rPr>
              <a:t>sim(q₁,q₂) = |T(q₁) ∩ T(q₂)|</a:t>
            </a:r>
          </a:p>
          <a:p>
            <a:pPr algn="ctr"/>
            <a:r>
              <a:rPr sz="1500" b="0" i="0">
                <a:solidFill>
                  <a:srgbClr val="333333"/>
                </a:solidFill>
                <a:latin typeface="Consolas"/>
              </a:rPr>
              <a:t>               ────────────────</a:t>
            </a:r>
          </a:p>
          <a:p>
            <a:pPr algn="ctr"/>
            <a:r>
              <a:rPr sz="1500" b="0" i="0">
                <a:solidFill>
                  <a:srgbClr val="333333"/>
                </a:solidFill>
                <a:latin typeface="Consolas"/>
              </a:rPr>
              <a:t>               |T(q₁) ∪ T(q₂)|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3017520"/>
            <a:ext cx="5029200" cy="2194560"/>
          </a:xfrm>
          <a:prstGeom prst="roundRect">
            <a:avLst/>
          </a:prstGeom>
          <a:solidFill>
            <a:srgbClr val="E5F5E0"/>
          </a:solidFill>
          <a:ln w="15875">
            <a:solidFill>
              <a:srgbClr val="31A3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500" b="0" i="0">
                <a:solidFill>
                  <a:srgbClr val="333333"/>
                </a:solidFill>
                <a:latin typeface="Calibri"/>
              </a:rPr>
              <a:t>Two layers of protection:</a:t>
            </a:r>
          </a:p>
          <a:p>
            <a:pPr algn="ctr"/>
          </a:p>
          <a:p>
            <a:pPr algn="ctr"/>
            <a:r>
              <a:rPr sz="1500" b="0" i="0">
                <a:solidFill>
                  <a:srgbClr val="333333"/>
                </a:solidFill>
                <a:latin typeface="Calibri"/>
              </a:rPr>
              <a:t>1.  remove dups from the POOL (dedup.py)</a:t>
            </a:r>
          </a:p>
          <a:p>
            <a:pPr algn="ctr"/>
            <a:r>
              <a:rPr sz="1500" b="0" i="0">
                <a:solidFill>
                  <a:srgbClr val="333333"/>
                </a:solidFill>
                <a:latin typeface="Calibri"/>
              </a:rPr>
              <a:t>2.  forbid dup PAIRS across versions (MIP constraint)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Stage 5: validate &amp; (optionally) judge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828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EEBF7"/>
                </a:solidFill>
                <a:latin typeface="Calibri"/>
              </a:rPr>
              <a:t>validate.py • judge.py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333333"/>
                </a:solidFill>
                <a:latin typeface="Calibri"/>
              </a:rPr>
              <a:t>Four-dimension validation report (the overall gate = PASS/FAIL):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5394960" cy="1143000"/>
          </a:xfrm>
          <a:prstGeom prst="roundRect">
            <a:avLst/>
          </a:prstGeom>
          <a:solidFill>
            <a:srgbClr val="DEEBF7"/>
          </a:solidFill>
          <a:ln w="15875">
            <a:solidFill>
              <a:srgbClr val="3182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600" b="1" i="0">
                <a:solidFill>
                  <a:srgbClr val="333333"/>
                </a:solidFill>
                <a:latin typeface="Calibri"/>
              </a:rPr>
              <a:t>Schema validity</a:t>
            </a:r>
          </a:p>
          <a:p>
            <a:pPr algn="ctr"/>
            <a:r>
              <a:rPr sz="1200">
                <a:solidFill>
                  <a:srgbClr val="636363"/>
                </a:solidFill>
                <a:latin typeface="Calibri"/>
              </a:rPr>
              <a:t>every question round-trips through the Question model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91640"/>
            <a:ext cx="5394960" cy="1143000"/>
          </a:xfrm>
          <a:prstGeom prst="roundRect">
            <a:avLst/>
          </a:prstGeom>
          <a:solidFill>
            <a:srgbClr val="E5F5E0"/>
          </a:solidFill>
          <a:ln w="15875">
            <a:solidFill>
              <a:srgbClr val="31A3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600" b="1" i="0">
                <a:solidFill>
                  <a:srgbClr val="333333"/>
                </a:solidFill>
                <a:latin typeface="Calibri"/>
              </a:rPr>
              <a:t>Blueprint compliance</a:t>
            </a:r>
          </a:p>
          <a:p>
            <a:pPr algn="ctr"/>
            <a:r>
              <a:rPr sz="1200">
                <a:solidFill>
                  <a:srgbClr val="636363"/>
                </a:solidFill>
                <a:latin typeface="Calibri"/>
              </a:rPr>
              <a:t>per-chapter, difficulty, total &amp; qtypes match EXACTLY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17520"/>
            <a:ext cx="5394960" cy="1143000"/>
          </a:xfrm>
          <a:prstGeom prst="roundRect">
            <a:avLst/>
          </a:prstGeom>
          <a:solidFill>
            <a:srgbClr val="DEEBF7"/>
          </a:solidFill>
          <a:ln w="15875">
            <a:solidFill>
              <a:srgbClr val="3182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600" b="1" i="0">
                <a:solidFill>
                  <a:srgbClr val="333333"/>
                </a:solidFill>
                <a:latin typeface="Calibri"/>
              </a:rPr>
              <a:t>Grounding coverage</a:t>
            </a:r>
          </a:p>
          <a:p>
            <a:pPr algn="ctr"/>
            <a:r>
              <a:rPr sz="1200">
                <a:solidFill>
                  <a:srgbClr val="636363"/>
                </a:solidFill>
                <a:latin typeface="Calibri"/>
              </a:rPr>
              <a:t>share traceable to source; answer words overlap passage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3017520"/>
            <a:ext cx="5394960" cy="1143000"/>
          </a:xfrm>
          <a:prstGeom prst="roundRect">
            <a:avLst/>
          </a:prstGeom>
          <a:solidFill>
            <a:srgbClr val="E5F5E0"/>
          </a:solidFill>
          <a:ln w="15875">
            <a:solidFill>
              <a:srgbClr val="31A3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600" b="1" i="0">
                <a:solidFill>
                  <a:srgbClr val="333333"/>
                </a:solidFill>
                <a:latin typeface="Calibri"/>
              </a:rPr>
              <a:t>Duplicate rate</a:t>
            </a:r>
          </a:p>
          <a:p>
            <a:pPr algn="ctr"/>
            <a:r>
              <a:rPr sz="1200">
                <a:solidFill>
                  <a:srgbClr val="636363"/>
                </a:solidFill>
                <a:latin typeface="Calibri"/>
              </a:rPr>
              <a:t>share of questions involved in a near-duplicate pair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572000"/>
            <a:ext cx="10972800" cy="1463040"/>
          </a:xfrm>
          <a:prstGeom prst="roundRect">
            <a:avLst/>
          </a:prstGeom>
          <a:solidFill>
            <a:srgbClr val="FDE0DD"/>
          </a:solidFill>
          <a:ln w="15875">
            <a:solidFill>
              <a:srgbClr val="DE2D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500" b="0" i="0">
                <a:solidFill>
                  <a:srgbClr val="333333"/>
                </a:solidFill>
                <a:latin typeface="Calibri"/>
              </a:rPr>
              <a:t>LLM-as-JUDGE (opt-in):  a SEPARATE model call rates each finished question 1–5 on answerability, correctness, clarity &amp; Bloom-match, and flags weak items for human review. It only reads questions — never rewrites them — so generate &amp; judge stay cleanly separable.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Orchestration &amp; fully-offline operation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828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EEBF7"/>
                </a:solidFill>
                <a:latin typeface="Calibri"/>
              </a:rPr>
              <a:t>pipeline.py • mock_client.py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• pipeline.py sequences every stage; each stage is imported from its own module.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• MockLLMClient parses #SPEC/#JUDGE directives and synthesises deterministic, schema-valid output — no network needed (--mock).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• Index build is best-effort: no embeddings ⇒ generate without RAG, dedup/validate fall back to token backend.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• Swapping the real LLM provider is a one-line .env change.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4297680"/>
            <a:ext cx="10972800" cy="914400"/>
          </a:xfrm>
          <a:prstGeom prst="rect">
            <a:avLst/>
          </a:prstGeom>
          <a:solidFill>
            <a:srgbClr val="1F2D3D"/>
          </a:solidFill>
          <a:ln w="15875">
            <a:solidFill>
              <a:srgbClr val="1F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600" b="0" i="0">
                <a:solidFill>
                  <a:srgbClr val="FFFFFF"/>
                </a:solidFill>
                <a:latin typeface="Consolas"/>
              </a:rPr>
              <a:t>python -m quizgen.pipeline --chapters 1-3 --blueprint blueprint.yaml --mock --judge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3949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 i="0">
                <a:solidFill>
                  <a:srgbClr val="3182BD"/>
                </a:solidFill>
                <a:latin typeface="Calibri"/>
              </a:rPr>
              <a:t>ingest → index → generate → dedup → assemble → validate → judge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Where each technique comes from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828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EEBF7"/>
                </a:solidFill>
                <a:latin typeface="Calibri"/>
              </a:rPr>
              <a:t>TECHNIQUE → SOURCE LINEAGE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4937760" cy="475488"/>
          </a:xfrm>
          <a:prstGeom prst="roundRect">
            <a:avLst/>
          </a:prstGeom>
          <a:solidFill>
            <a:srgbClr val="3182BD"/>
          </a:solidFill>
          <a:ln w="15875">
            <a:solidFill>
              <a:srgbClr val="3182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Implemented in code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0" y="1325880"/>
            <a:ext cx="5943600" cy="475488"/>
          </a:xfrm>
          <a:prstGeom prst="roundRect">
            <a:avLst/>
          </a:prstGeom>
          <a:solidFill>
            <a:srgbClr val="3182BD"/>
          </a:solidFill>
          <a:ln w="15875">
            <a:solidFill>
              <a:srgbClr val="3182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Source lineage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01368"/>
            <a:ext cx="4937760" cy="475488"/>
          </a:xfrm>
          <a:prstGeom prst="rect">
            <a:avLst/>
          </a:prstGeom>
          <a:solidFill>
            <a:srgbClr val="F0F0F2"/>
          </a:solidFill>
          <a:ln w="15875">
            <a:solidFill>
              <a:srgbClr val="6363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0" i="0">
                <a:solidFill>
                  <a:srgbClr val="333333"/>
                </a:solidFill>
                <a:latin typeface="Calibri"/>
              </a:rPr>
              <a:t>Generate-then-select pipeline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0" y="1801368"/>
            <a:ext cx="5943600" cy="475488"/>
          </a:xfrm>
          <a:prstGeom prst="rect">
            <a:avLst/>
          </a:prstGeom>
          <a:solidFill>
            <a:srgbClr val="F0F0F2"/>
          </a:solidFill>
          <a:ln w="15875">
            <a:solidFill>
              <a:srgbClr val="6363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0" i="0">
                <a:solidFill>
                  <a:srgbClr val="333333"/>
                </a:solidFill>
                <a:latin typeface="Calibri"/>
              </a:rPr>
              <a:t>over-generate &amp; select pattern (NLG / QG)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276856"/>
            <a:ext cx="4937760" cy="475488"/>
          </a:xfrm>
          <a:prstGeom prst="rect">
            <a:avLst/>
          </a:prstGeom>
          <a:solidFill>
            <a:srgbClr val="FFFFFF"/>
          </a:solidFill>
          <a:ln w="15875">
            <a:solidFill>
              <a:srgbClr val="6363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0" i="0">
                <a:solidFill>
                  <a:srgbClr val="333333"/>
                </a:solidFill>
                <a:latin typeface="Calibri"/>
              </a:rPr>
              <a:t>RAG grounding (index.py)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0" y="2276856"/>
            <a:ext cx="5943600" cy="475488"/>
          </a:xfrm>
          <a:prstGeom prst="rect">
            <a:avLst/>
          </a:prstGeom>
          <a:solidFill>
            <a:srgbClr val="FFFFFF"/>
          </a:solidFill>
          <a:ln w="15875">
            <a:solidFill>
              <a:srgbClr val="6363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0" i="0">
                <a:solidFill>
                  <a:srgbClr val="333333"/>
                </a:solidFill>
                <a:latin typeface="Calibri"/>
              </a:rPr>
              <a:t>Lewis et al. 2020 — retrieval-augmented generation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752344"/>
            <a:ext cx="4937760" cy="475488"/>
          </a:xfrm>
          <a:prstGeom prst="rect">
            <a:avLst/>
          </a:prstGeom>
          <a:solidFill>
            <a:srgbClr val="F0F0F2"/>
          </a:solidFill>
          <a:ln w="15875">
            <a:solidFill>
              <a:srgbClr val="6363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0" i="0">
                <a:solidFill>
                  <a:srgbClr val="333333"/>
                </a:solidFill>
                <a:latin typeface="Calibri"/>
              </a:rPr>
              <a:t>Bloom levels + aligned prompting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0" y="2752344"/>
            <a:ext cx="5943600" cy="475488"/>
          </a:xfrm>
          <a:prstGeom prst="rect">
            <a:avLst/>
          </a:prstGeom>
          <a:solidFill>
            <a:srgbClr val="F0F0F2"/>
          </a:solidFill>
          <a:ln w="15875">
            <a:solidFill>
              <a:srgbClr val="6363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0" i="0">
                <a:solidFill>
                  <a:srgbClr val="333333"/>
                </a:solidFill>
                <a:latin typeface="Calibri"/>
              </a:rPr>
              <a:t>Anderson &amp; Krathwohl 2001 (revised Bloom)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227832"/>
            <a:ext cx="4937760" cy="475488"/>
          </a:xfrm>
          <a:prstGeom prst="rect">
            <a:avLst/>
          </a:prstGeom>
          <a:solidFill>
            <a:srgbClr val="FFFFFF"/>
          </a:solidFill>
          <a:ln w="15875">
            <a:solidFill>
              <a:srgbClr val="6363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0" i="0">
                <a:solidFill>
                  <a:srgbClr val="333333"/>
                </a:solidFill>
                <a:latin typeface="Calibri"/>
              </a:rPr>
              <a:t>Structured / constrained decoding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0" y="3227832"/>
            <a:ext cx="5943600" cy="475488"/>
          </a:xfrm>
          <a:prstGeom prst="rect">
            <a:avLst/>
          </a:prstGeom>
          <a:solidFill>
            <a:srgbClr val="FFFFFF"/>
          </a:solidFill>
          <a:ln w="15875">
            <a:solidFill>
              <a:srgbClr val="6363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0" i="0">
                <a:solidFill>
                  <a:srgbClr val="333333"/>
                </a:solidFill>
                <a:latin typeface="Calibri"/>
              </a:rPr>
              <a:t>JSON-Schema decoding; Outlines (Willard &amp; Louf 2023)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703320"/>
            <a:ext cx="4937760" cy="475488"/>
          </a:xfrm>
          <a:prstGeom prst="rect">
            <a:avLst/>
          </a:prstGeom>
          <a:solidFill>
            <a:srgbClr val="F0F0F2"/>
          </a:solidFill>
          <a:ln w="15875">
            <a:solidFill>
              <a:srgbClr val="6363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0" i="0">
                <a:solidFill>
                  <a:srgbClr val="333333"/>
                </a:solidFill>
                <a:latin typeface="Calibri"/>
              </a:rPr>
              <a:t>Test assembly as 0–1 MIP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0" y="3703320"/>
            <a:ext cx="5943600" cy="475488"/>
          </a:xfrm>
          <a:prstGeom prst="rect">
            <a:avLst/>
          </a:prstGeom>
          <a:solidFill>
            <a:srgbClr val="F0F0F2"/>
          </a:solidFill>
          <a:ln w="15875">
            <a:solidFill>
              <a:srgbClr val="6363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0" i="0">
                <a:solidFill>
                  <a:srgbClr val="333333"/>
                </a:solidFill>
                <a:latin typeface="Calibri"/>
              </a:rPr>
              <a:t>van der Linden 2005 — optimal test design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178808"/>
            <a:ext cx="4937760" cy="475488"/>
          </a:xfrm>
          <a:prstGeom prst="rect">
            <a:avLst/>
          </a:prstGeom>
          <a:solidFill>
            <a:srgbClr val="FFFFFF"/>
          </a:solidFill>
          <a:ln w="15875">
            <a:solidFill>
              <a:srgbClr val="6363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0" i="0">
                <a:solidFill>
                  <a:srgbClr val="333333"/>
                </a:solidFill>
                <a:latin typeface="Calibri"/>
              </a:rPr>
              <a:t>Semantic dedup (embeddings)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0" y="4178808"/>
            <a:ext cx="5943600" cy="475488"/>
          </a:xfrm>
          <a:prstGeom prst="rect">
            <a:avLst/>
          </a:prstGeom>
          <a:solidFill>
            <a:srgbClr val="FFFFFF"/>
          </a:solidFill>
          <a:ln w="15875">
            <a:solidFill>
              <a:srgbClr val="6363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0" i="0">
                <a:solidFill>
                  <a:srgbClr val="333333"/>
                </a:solidFill>
                <a:latin typeface="Calibri"/>
              </a:rPr>
              <a:t>Sentence-BERT (Reimers &amp; Gurevych 2019)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654296"/>
            <a:ext cx="4937760" cy="475488"/>
          </a:xfrm>
          <a:prstGeom prst="rect">
            <a:avLst/>
          </a:prstGeom>
          <a:solidFill>
            <a:srgbClr val="F0F0F2"/>
          </a:solidFill>
          <a:ln w="15875">
            <a:solidFill>
              <a:srgbClr val="6363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0" i="0">
                <a:solidFill>
                  <a:srgbClr val="333333"/>
                </a:solidFill>
                <a:latin typeface="Calibri"/>
              </a:rPr>
              <a:t>LLM-as-judge (judge.py)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0" y="4654296"/>
            <a:ext cx="5943600" cy="475488"/>
          </a:xfrm>
          <a:prstGeom prst="rect">
            <a:avLst/>
          </a:prstGeom>
          <a:solidFill>
            <a:srgbClr val="F0F0F2"/>
          </a:solidFill>
          <a:ln w="15875">
            <a:solidFill>
              <a:srgbClr val="6363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0" i="0">
                <a:solidFill>
                  <a:srgbClr val="333333"/>
                </a:solidFill>
                <a:latin typeface="Calibri"/>
              </a:rPr>
              <a:t>Zheng et al. 2023 — judging LLM-as-a-judge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129784"/>
            <a:ext cx="4937760" cy="475488"/>
          </a:xfrm>
          <a:prstGeom prst="rect">
            <a:avLst/>
          </a:prstGeom>
          <a:solidFill>
            <a:srgbClr val="FFFFFF"/>
          </a:solidFill>
          <a:ln w="15875">
            <a:solidFill>
              <a:srgbClr val="6363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0" i="0">
                <a:solidFill>
                  <a:srgbClr val="333333"/>
                </a:solidFill>
                <a:latin typeface="Calibri"/>
              </a:rPr>
              <a:t>Test blueprint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0" y="5129784"/>
            <a:ext cx="5943600" cy="475488"/>
          </a:xfrm>
          <a:prstGeom prst="rect">
            <a:avLst/>
          </a:prstGeom>
          <a:solidFill>
            <a:srgbClr val="FFFFFF"/>
          </a:solidFill>
          <a:ln w="15875">
            <a:solidFill>
              <a:srgbClr val="6363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0" i="0">
                <a:solidFill>
                  <a:srgbClr val="333333"/>
                </a:solidFill>
                <a:latin typeface="Calibri"/>
              </a:rPr>
              <a:t>classical table-of-specifications assessment design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355080"/>
            <a:ext cx="11338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DE2D26"/>
                </a:solidFill>
                <a:latin typeface="Calibri"/>
              </a:rPr>
              <a:t>Note: the cited papers are not in the repo — replace these keys with the thesis's exact bibliography. Engineering (apportionment, greedy baseline, mock client) is project-specific.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Takeaways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08760"/>
            <a:ext cx="2926080" cy="73152"/>
          </a:xfrm>
          <a:prstGeom prst="rect">
            <a:avLst/>
          </a:prstGeom>
          <a:solidFill>
            <a:srgbClr val="3182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→  Separate GENERATION from SELECTION — creativity vs. exact constraints.</a:t>
            </a:r>
          </a:p>
          <a:p>
            <a:pPr>
              <a:spcAft>
                <a:spcPts val="16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→  RAG keeps questions grounded &amp; traceable (source_ref).</a:t>
            </a:r>
          </a:p>
          <a:p>
            <a:pPr>
              <a:spcAft>
                <a:spcPts val="16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→  Bloom-aligned prompting + tag coercion = exact pedagogical control.</a:t>
            </a:r>
          </a:p>
          <a:p>
            <a:pPr>
              <a:spcAft>
                <a:spcPts val="16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→  A 0–1 MIP gives exact, auditable, multi-version assembly.</a:t>
            </a:r>
          </a:p>
          <a:p>
            <a:pPr>
              <a:spcAft>
                <a:spcPts val="16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→  Layered checks: schema, blueprint, grounding, dedup, LLM-judge.</a:t>
            </a:r>
          </a:p>
          <a:p>
            <a:pPr>
              <a:spcAft>
                <a:spcPts val="16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→  Runs fully offline; swap the LLM provider with one .env line.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